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2" r:id="rId16"/>
    <p:sldId id="271" r:id="rId17"/>
    <p:sldId id="270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7FF31-8934-2197-9CEF-9AA1C69C6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89B463-8E00-5631-1BEB-2D25D84EB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87C2E-8BC6-8182-A589-2C9898FC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09E4A-ADAC-FFC2-C8A8-796270BD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CE2B0C-093E-E74B-099F-0310E4D6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4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75E7D-8FD6-8875-724E-3DF44D8C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EE18D-10FE-3398-3692-325BF4EF6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F9439-5B18-2B5F-83E2-BAF6D459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C8A33-6F86-7284-AB21-D5DB6F22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E9719-88F6-B8F2-B32E-63FF4285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22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CD7BE-CB45-709E-E345-DAC46E91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9D3BF-D6A8-1A12-CDC5-91D568E90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9D07C-2E5D-97A8-FCD1-00A30F956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D8D24-3514-4349-5072-28E04BB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F3E3A-7B24-0EB5-3DA2-869BB779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76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C864A-BC96-D19B-2547-2CF7670F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72845-8D92-DEF4-C9E3-B51E065DF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703D8A-4107-5C7C-994D-AB7AB8CA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2D878F-18E3-D596-7AC2-BEBAAA4FE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36E28-BF76-DE92-66BA-A83E9C5A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D4ECB8-66D0-DA33-5130-78890BC9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84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9504F-6F77-053C-4BB3-A647A7E8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754E2-36EB-B8F2-3CB0-5E31DD16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E31FA3-82D2-961A-342C-FAB9D9C2B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7F0587-50E0-D2DF-AC3A-00DFC383F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474682-19EC-46DB-432A-CA5425903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B5BEBC-A139-6195-A402-A915F88A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170D1E-8E77-FFBA-DAF4-7E597474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5C37A5-0ABD-2913-A560-5977DAB3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0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2CC4F-808A-B646-003E-F7C6F207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778AC4-7F35-75EC-EE1E-C6E7A81C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E36D08-A89B-B42F-22DD-914E4244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84EA5D-C7C9-BCA0-BAB0-C2B0AD82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7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FC82C-CDE5-A8E1-F8DA-D9AC0307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516514-7308-24AE-BFBE-D8222B9B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9E6C54-45E4-3816-449B-93F32F26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3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F54A2-3C74-558D-0117-C2F87DE5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A50ACD-8A20-4D58-4DC8-556DA571D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41974C-C6C6-82F0-5ABA-A9DDBB683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5014FE-E6D8-23E7-7C80-24329228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766341-2B72-0DFA-1CF2-C9387795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F9C062-3136-BD5A-2685-F61B294A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97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2D71C-BA68-9695-EBBB-2E85CBD5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EABD83-2138-C22A-2F36-5F98D13D8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75E371-F820-5D30-2613-91AB9AD9F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A383F5-08E5-5CCD-A0FC-D9AA8D50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502240-E9DC-2625-0554-6F2ECFBB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609D54-F068-9E9F-F29F-3B3E7ADC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E1686-9EEA-B211-FFF3-3DF02C04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A58C64-E89D-D980-71E7-67E0E7B2B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7DB97-595D-38AB-872C-7C1D847E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83F5C-0B6F-FE78-380D-E6D3B636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91733-B7E7-E893-32D8-340F25E9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72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F15A63-1ABA-7F72-C76A-7DC890EA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0AB393-AD6F-E273-2B47-C6084FFDC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FCD0F-D6AA-0016-7E08-C7078E00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35B032-DB20-26B8-9495-0CC426DE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AE24D-6F97-9494-3DD5-0CEE042A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56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B0CB5C-BD59-5C06-2077-14190827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D498E7-8BC5-1641-5288-EAD1BD860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360DC3-3D4E-AA06-CC24-93512244D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4101D-4C27-441A-AFEF-79CD20E4833F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54ECD-0B7D-36CC-4142-A98FDF3F3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C39532-B8BD-AEDB-FE0C-86BFE5ECD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67AE6-3E75-419C-9C9A-C1974D0A9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07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-org.myaccess.library.utoronto.ca/10.1093/nar/gkaf125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-org.myaccess.library.utoronto.ca/10.4049/immunohorizons.2400004" TargetMode="External"/><Relationship Id="rId2" Type="http://schemas.openxmlformats.org/officeDocument/2006/relationships/hyperlink" Target="https://doi.org/10.3390/ijms2107260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cyto.2004.02.005" TargetMode="External"/><Relationship Id="rId5" Type="http://schemas.openxmlformats.org/officeDocument/2006/relationships/hyperlink" Target="https://doi-org.myaccess.library.utoronto.ca/10.1016/j.heliyon.2025.e42085" TargetMode="External"/><Relationship Id="rId4" Type="http://schemas.openxmlformats.org/officeDocument/2006/relationships/hyperlink" Target="https://doi.org/10.1038/s41467-019-14258-z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%2Fpro.4218" TargetMode="External"/><Relationship Id="rId2" Type="http://schemas.openxmlformats.org/officeDocument/2006/relationships/hyperlink" Target="https://doi.org/10.1016/j.xinn.2024.100722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9DE60BB-849B-CA38-9A52-C2CD57C2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83661F1-AACF-7C04-0D07-8CC97CC08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GM47283</a:t>
            </a:r>
          </a:p>
          <a:p>
            <a:r>
              <a:rPr lang="en-US" altLang="zh-CN" dirty="0"/>
              <a:t>DEG</a:t>
            </a:r>
          </a:p>
          <a:p>
            <a:r>
              <a:rPr lang="en-US" altLang="zh-CN" dirty="0"/>
              <a:t>GO enrichment (BP &amp; MF)</a:t>
            </a:r>
          </a:p>
        </p:txBody>
      </p:sp>
    </p:spTree>
    <p:extLst>
      <p:ext uri="{BB962C8B-B14F-4D97-AF65-F5344CB8AC3E}">
        <p14:creationId xmlns:p14="http://schemas.microsoft.com/office/powerpoint/2010/main" val="116276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ACC9179-7CB2-EE3C-E002-AD9EDF48C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0" y="365125"/>
            <a:ext cx="5198365" cy="19109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3BC279-9B81-D354-79DD-662633BDE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95" y="286919"/>
            <a:ext cx="3350794" cy="27419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457C459-906B-C882-FDCA-0FF194CB0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996" y="3028900"/>
            <a:ext cx="3347172" cy="27419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56920DB-FB39-B51A-A801-E4F98B1B7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0" y="2276066"/>
            <a:ext cx="6640763" cy="200717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2DDCA42-9F1F-2A23-B32A-0D977C0E51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0" y="4283242"/>
            <a:ext cx="5109177" cy="200717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2F6F655-33D7-8F05-F028-DD92A3C1AC9A}"/>
              </a:ext>
            </a:extLst>
          </p:cNvPr>
          <p:cNvSpPr txBox="1"/>
          <p:nvPr/>
        </p:nvSpPr>
        <p:spPr>
          <a:xfrm>
            <a:off x="7533995" y="-82413"/>
            <a:ext cx="335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All glia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3420C1-5C4A-8914-73A8-9DAB035E6174}"/>
              </a:ext>
            </a:extLst>
          </p:cNvPr>
          <p:cNvSpPr txBox="1"/>
          <p:nvPr/>
        </p:nvSpPr>
        <p:spPr>
          <a:xfrm>
            <a:off x="483320" y="-4207"/>
            <a:ext cx="335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3K subset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C0CB65-5A66-83C4-1FEE-BB0127BF68DF}"/>
              </a:ext>
            </a:extLst>
          </p:cNvPr>
          <p:cNvSpPr txBox="1"/>
          <p:nvPr/>
        </p:nvSpPr>
        <p:spPr>
          <a:xfrm>
            <a:off x="7533995" y="5913521"/>
            <a:ext cx="4569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GM47283 upregulated in female in Global, ABC, Astro, BAM, endothelial, Microglia, Oligo, OPC, SMC, VLMC, </a:t>
            </a:r>
            <a:r>
              <a:rPr lang="en-US" altLang="zh-CN" dirty="0" err="1"/>
              <a:t>perithelial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102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6EE8C-53B8-D336-5322-6FF6E5B7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GM47283 Synteny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82A8B-C16F-ABBD-5C98-31AFCCE2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9767637" cy="1928228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2000" dirty="0" err="1"/>
              <a:t>chrY</a:t>
            </a:r>
            <a:r>
              <a:rPr lang="en-US" altLang="zh-CN" sz="2000" dirty="0"/>
              <a:t>: 897,790~946,316		Kdm5d</a:t>
            </a:r>
          </a:p>
          <a:p>
            <a:r>
              <a:rPr lang="en-US" altLang="zh-CN" sz="2000" dirty="0" err="1"/>
              <a:t>chrY</a:t>
            </a:r>
            <a:r>
              <a:rPr lang="en-US" altLang="zh-CN" sz="2000" dirty="0"/>
              <a:t>: 1,010,543~1,028,594		Eif2s3y</a:t>
            </a:r>
          </a:p>
          <a:p>
            <a:r>
              <a:rPr lang="en-US" altLang="zh-CN" sz="2000" dirty="0" err="1"/>
              <a:t>chrY</a:t>
            </a:r>
            <a:r>
              <a:rPr lang="en-US" altLang="zh-CN" sz="2000" dirty="0"/>
              <a:t>: 1,097,144~1,245,718		</a:t>
            </a:r>
            <a:r>
              <a:rPr lang="en-US" altLang="zh-CN" sz="2000" dirty="0" err="1"/>
              <a:t>Uty</a:t>
            </a:r>
            <a:endParaRPr lang="en-US" altLang="zh-CN" sz="2000" dirty="0"/>
          </a:p>
          <a:p>
            <a:r>
              <a:rPr lang="en-US" altLang="zh-CN" sz="2000" dirty="0" err="1"/>
              <a:t>chrY</a:t>
            </a:r>
            <a:r>
              <a:rPr lang="en-US" altLang="zh-CN" sz="2000" dirty="0"/>
              <a:t>: 1,260,771~1,286,629		Ddx3y</a:t>
            </a:r>
          </a:p>
          <a:p>
            <a:r>
              <a:rPr lang="en-US" altLang="zh-CN" sz="2000" dirty="0" err="1"/>
              <a:t>chrY</a:t>
            </a:r>
            <a:r>
              <a:rPr lang="en-US" altLang="zh-CN" sz="2000" dirty="0"/>
              <a:t>: 90,785,501~90,816,464		Gm47283</a:t>
            </a:r>
          </a:p>
          <a:p>
            <a:r>
              <a:rPr lang="en-US" altLang="zh-CN" sz="2000" b="1" dirty="0"/>
              <a:t>Reference: </a:t>
            </a:r>
            <a:r>
              <a:rPr lang="en-US" altLang="zh-CN" sz="2000" dirty="0"/>
              <a:t>UCSC Genome Browser (</a:t>
            </a:r>
            <a:r>
              <a:rPr lang="en-US" altLang="zh-CN" sz="2000" dirty="0">
                <a:hlinkClick r:id="rId2"/>
              </a:rPr>
              <a:t>https://doi-org.myaccess.library.utoronto.ca/10.1093/nar/gkaf1250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056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AEBBE-9445-8596-77AF-0D04CBFA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428BBD2-CEC3-5BB6-43A6-EB58AD93A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C90A8-49F5-0B9E-2643-7C31A890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65B8D2-EBC9-C148-C777-E9AB2E1AD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6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AE4D9-3EC7-292A-3825-AAD343F2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Pseudoautosomal</a:t>
            </a:r>
            <a:r>
              <a:rPr lang="en-US" altLang="zh-CN" dirty="0"/>
              <a:t> region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DB5AE9-6703-5B8A-0313-2028FEC1B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472" y="0"/>
            <a:ext cx="3410139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70D375-4DBD-80AD-B236-71BC10B38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37416"/>
            <a:ext cx="12192000" cy="227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5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BC7F6D4-F39D-422E-3B0E-25AFF74C29A2}"/>
              </a:ext>
            </a:extLst>
          </p:cNvPr>
          <p:cNvSpPr txBox="1"/>
          <p:nvPr/>
        </p:nvSpPr>
        <p:spPr>
          <a:xfrm>
            <a:off x="481262" y="0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 -&gt; X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35C50D7-5A2B-308E-9518-A38A2360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2" y="369332"/>
            <a:ext cx="5301422" cy="522826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1ACC355-D761-AA77-62AE-585EE35B0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84" y="369332"/>
            <a:ext cx="5502393" cy="533965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D48C546-A878-0E05-ECD6-947BD9C956F6}"/>
              </a:ext>
            </a:extLst>
          </p:cNvPr>
          <p:cNvSpPr txBox="1"/>
          <p:nvPr/>
        </p:nvSpPr>
        <p:spPr>
          <a:xfrm>
            <a:off x="5782684" y="0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 -&gt; Y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C9DCC6-78D9-4EDA-A1B4-48448A8A2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2" y="5351914"/>
            <a:ext cx="5301422" cy="15060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3DA0EB-11DF-A29C-1682-63352BC65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169" y="5352429"/>
            <a:ext cx="5507423" cy="15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13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19C6-6221-F39A-9FA1-DB150142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EA44382-4858-52D6-744A-38E3BE45716F}"/>
              </a:ext>
            </a:extLst>
          </p:cNvPr>
          <p:cNvSpPr txBox="1"/>
          <p:nvPr/>
        </p:nvSpPr>
        <p:spPr>
          <a:xfrm>
            <a:off x="42712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 -&gt; X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2F0F13-E39B-C337-838D-2D8B28A24818}"/>
              </a:ext>
            </a:extLst>
          </p:cNvPr>
          <p:cNvSpPr txBox="1"/>
          <p:nvPr/>
        </p:nvSpPr>
        <p:spPr>
          <a:xfrm>
            <a:off x="609600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 -&gt; Y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D779E2-2A77-409A-3778-2D0BAAD95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335"/>
            <a:ext cx="5301422" cy="15060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3349A9-B69C-157B-E3DE-C0DDF6159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1335"/>
            <a:ext cx="5507423" cy="1505571"/>
          </a:xfrm>
          <a:prstGeom prst="rect">
            <a:avLst/>
          </a:prstGeom>
        </p:spPr>
      </p:pic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3662BA0C-4136-D8E1-C78E-E01090CA2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248525"/>
            <a:ext cx="5233737" cy="1437775"/>
          </a:xfrm>
        </p:spPr>
        <p:txBody>
          <a:bodyPr/>
          <a:lstStyle/>
          <a:p>
            <a:r>
              <a:rPr lang="en-US" altLang="zh-CN" dirty="0"/>
              <a:t>Y allele: 32 RNA isoform</a:t>
            </a:r>
            <a:endParaRPr lang="zh-CN" altLang="en-US" dirty="0"/>
          </a:p>
        </p:txBody>
      </p:sp>
      <p:sp>
        <p:nvSpPr>
          <p:cNvPr id="16" name="内容占位符 14">
            <a:extLst>
              <a:ext uri="{FF2B5EF4-FFF2-40B4-BE49-F238E27FC236}">
                <a16:creationId xmlns:a16="http://schemas.microsoft.com/office/drawing/2014/main" id="{408ED338-1344-5B71-D5F0-5D5E3F9E374D}"/>
              </a:ext>
            </a:extLst>
          </p:cNvPr>
          <p:cNvSpPr txBox="1">
            <a:spLocks/>
          </p:cNvSpPr>
          <p:nvPr/>
        </p:nvSpPr>
        <p:spPr>
          <a:xfrm>
            <a:off x="6096000" y="3198122"/>
            <a:ext cx="5233737" cy="143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X allele: 7 RNA isoform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37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C86D924-624F-053D-2BA9-54846F0E2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" y="528195"/>
            <a:ext cx="12093438" cy="517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8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14F0174-5BAD-859E-7909-9B264CCC21AB}"/>
              </a:ext>
            </a:extLst>
          </p:cNvPr>
          <p:cNvSpPr txBox="1"/>
          <p:nvPr/>
        </p:nvSpPr>
        <p:spPr>
          <a:xfrm>
            <a:off x="687805" y="1029888"/>
            <a:ext cx="3603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Park et al, 2020</a:t>
            </a:r>
          </a:p>
          <a:p>
            <a:r>
              <a:rPr lang="en-US" altLang="zh-CN" dirty="0"/>
              <a:t>(</a:t>
            </a:r>
            <a:r>
              <a:rPr lang="en-US" altLang="zh-CN" dirty="0">
                <a:hlinkClick r:id="rId2"/>
              </a:rPr>
              <a:t>https://doi.org/10.3390/ijms21072603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08B89C-243F-7B68-99E9-1221EF7B0C0F}"/>
              </a:ext>
            </a:extLst>
          </p:cNvPr>
          <p:cNvSpPr txBox="1"/>
          <p:nvPr/>
        </p:nvSpPr>
        <p:spPr>
          <a:xfrm>
            <a:off x="687805" y="2076908"/>
            <a:ext cx="3603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Wang, 2024</a:t>
            </a:r>
          </a:p>
          <a:p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https://doi-org.myaccess.library.utoronto.ca/10.4049/immunohorizons.2400004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0C9752-CCE3-06AA-3BEA-A0641C568ADC}"/>
              </a:ext>
            </a:extLst>
          </p:cNvPr>
          <p:cNvSpPr txBox="1"/>
          <p:nvPr/>
        </p:nvSpPr>
        <p:spPr>
          <a:xfrm>
            <a:off x="687805" y="3400927"/>
            <a:ext cx="3603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Abo et al, 2020</a:t>
            </a:r>
          </a:p>
          <a:p>
            <a:r>
              <a:rPr lang="en-US" altLang="zh-CN" dirty="0"/>
              <a:t>(</a:t>
            </a:r>
            <a:r>
              <a:rPr lang="en-US" altLang="zh-CN" dirty="0">
                <a:hlinkClick r:id="rId4"/>
              </a:rPr>
              <a:t>https://doi.org/10.1038/s41467-019-14258-z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6D15B6-4650-8B71-C3EE-0DF127DF03EB}"/>
              </a:ext>
            </a:extLst>
          </p:cNvPr>
          <p:cNvSpPr txBox="1"/>
          <p:nvPr/>
        </p:nvSpPr>
        <p:spPr>
          <a:xfrm>
            <a:off x="687805" y="4447947"/>
            <a:ext cx="3603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Shu, 2020</a:t>
            </a:r>
          </a:p>
          <a:p>
            <a:r>
              <a:rPr lang="en-US" altLang="zh-CN" dirty="0"/>
              <a:t>(</a:t>
            </a:r>
            <a:r>
              <a:rPr lang="en-US" altLang="zh-CN" dirty="0">
                <a:hlinkClick r:id="rId5"/>
              </a:rPr>
              <a:t>https://doi-org.myaccess.library.utoronto.ca/10.1016/j.heliyon.2025.e42085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85EE9F-FA09-FB21-FC3D-B49344F4880F}"/>
              </a:ext>
            </a:extLst>
          </p:cNvPr>
          <p:cNvSpPr txBox="1"/>
          <p:nvPr/>
        </p:nvSpPr>
        <p:spPr>
          <a:xfrm>
            <a:off x="6553201" y="2954071"/>
            <a:ext cx="512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Dörmer et al, 2004 (</a:t>
            </a:r>
            <a:r>
              <a:rPr lang="en-US" altLang="zh-CN" dirty="0">
                <a:hlinkClick r:id="rId6"/>
              </a:rPr>
              <a:t>https://doi.org/10.1016/j.cyto.2004.02.005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6F482F2-731A-713A-26C6-D8153E6A4909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4291263" y="1491553"/>
            <a:ext cx="2261938" cy="1785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97D889-F29E-ED41-D991-F3F96765AA2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4291263" y="2677073"/>
            <a:ext cx="2261938" cy="600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0454793-F1B4-1A0B-383A-436119C6B10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4291263" y="3277237"/>
            <a:ext cx="2261938" cy="585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5A0523E-572C-BA25-CF82-61342313280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4291263" y="3277237"/>
            <a:ext cx="2261938" cy="177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62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EFF5-6B48-32FC-78ED-75C7981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D9284CE9-BAA1-E68F-2F49-8B617F70E925}"/>
              </a:ext>
            </a:extLst>
          </p:cNvPr>
          <p:cNvSpPr txBox="1"/>
          <p:nvPr/>
        </p:nvSpPr>
        <p:spPr>
          <a:xfrm>
            <a:off x="42712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Erdr1y -&gt; Human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A3FEB0-63B6-7A16-8A1E-A187F3008940}"/>
              </a:ext>
            </a:extLst>
          </p:cNvPr>
          <p:cNvSpPr txBox="1"/>
          <p:nvPr/>
        </p:nvSpPr>
        <p:spPr>
          <a:xfrm>
            <a:off x="609600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Erdr1x -&gt; Human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E84832-712D-EDBC-31B9-998A5F1F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50119"/>
            <a:ext cx="6042068" cy="45723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80D11C-1AB1-61CD-0B08-7522B343C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56" y="868989"/>
            <a:ext cx="6093993" cy="465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9D73-AB33-D53A-71DC-CDAFA474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CD3CC8C-23E0-792B-3200-CA320BD340A9}"/>
              </a:ext>
            </a:extLst>
          </p:cNvPr>
          <p:cNvSpPr txBox="1"/>
          <p:nvPr/>
        </p:nvSpPr>
        <p:spPr>
          <a:xfrm>
            <a:off x="42712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Erdr1y -&gt; Human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1C65A9-15F2-D84D-B862-30DD7CFDDBEA}"/>
              </a:ext>
            </a:extLst>
          </p:cNvPr>
          <p:cNvSpPr txBox="1"/>
          <p:nvPr/>
        </p:nvSpPr>
        <p:spPr>
          <a:xfrm>
            <a:off x="6096000" y="580787"/>
            <a:ext cx="572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Erdr1x -&gt; Human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CB48B2-F11A-3761-CA0A-D88D74D0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57" y="950119"/>
            <a:ext cx="5719832" cy="22112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7217DD-3866-A460-C68C-5AA74E211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4" y="950119"/>
            <a:ext cx="5719833" cy="223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9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ACCC1-99F7-670D-65CB-6167C812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GM47283 Summery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A29CB-0153-4744-E85B-06397150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Sex-linked gene upregulated in various glia subclass in female</a:t>
            </a:r>
          </a:p>
          <a:p>
            <a:r>
              <a:rPr lang="en-US" altLang="zh-CN" dirty="0"/>
              <a:t>Misaligned </a:t>
            </a:r>
            <a:r>
              <a:rPr lang="en-US" altLang="zh-CN" i="1" dirty="0"/>
              <a:t>Erdr1x</a:t>
            </a:r>
            <a:r>
              <a:rPr lang="en-US" altLang="zh-CN" dirty="0"/>
              <a:t> during reads mapping because of </a:t>
            </a:r>
            <a:r>
              <a:rPr lang="en-US" altLang="zh-CN" dirty="0" err="1"/>
              <a:t>pseudoautosomal</a:t>
            </a:r>
            <a:r>
              <a:rPr lang="en-US" altLang="zh-CN" dirty="0"/>
              <a:t> region homology</a:t>
            </a:r>
          </a:p>
          <a:p>
            <a:r>
              <a:rPr lang="en-US" altLang="zh-CN" dirty="0"/>
              <a:t>Exist a human paralog, but no ortholog</a:t>
            </a:r>
          </a:p>
          <a:p>
            <a:r>
              <a:rPr lang="en-US" altLang="zh-CN" dirty="0"/>
              <a:t>Both mRNA and lncRNA evidence exist</a:t>
            </a:r>
          </a:p>
          <a:p>
            <a:r>
              <a:rPr lang="en-US" altLang="zh-CN" dirty="0"/>
              <a:t>Immunoregulatory and apoptosis role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0491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DEB21-916A-E46B-35E7-FDB267119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DEG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5963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C184CE-BFA1-738D-CE84-04E887CA8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5" y="3470360"/>
            <a:ext cx="3972713" cy="29795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602CA1-81A8-C27E-92F1-B3D8CA720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4" y="490825"/>
            <a:ext cx="3972713" cy="29795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546B7C-C5BD-D451-D901-F94C34692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909" y="3470360"/>
            <a:ext cx="3972712" cy="29795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6C9781-001D-2AB4-3D9E-B2D607DB9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197" y="3511721"/>
            <a:ext cx="3972713" cy="29795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F1713F3-B291-DE17-7E67-EB9B52DC3B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909" y="449464"/>
            <a:ext cx="3972714" cy="29795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17985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B26A153-3C3A-8330-06AE-A0E5183EE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534" y="1217568"/>
            <a:ext cx="5352046" cy="44600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ABDF7F-70D2-5C1D-0912-9FC8E3198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4" y="1217568"/>
            <a:ext cx="5352046" cy="44600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8050F11-383E-8AF0-C636-EE22F2AAA440}"/>
              </a:ext>
            </a:extLst>
          </p:cNvPr>
          <p:cNvSpPr txBox="1"/>
          <p:nvPr/>
        </p:nvSpPr>
        <p:spPr>
          <a:xfrm>
            <a:off x="294774" y="795392"/>
            <a:ext cx="535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3k subset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F98102-68C7-9A2E-029A-C0A33968F6DE}"/>
              </a:ext>
            </a:extLst>
          </p:cNvPr>
          <p:cNvSpPr txBox="1"/>
          <p:nvPr/>
        </p:nvSpPr>
        <p:spPr>
          <a:xfrm>
            <a:off x="6336534" y="795392"/>
            <a:ext cx="535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Whole glia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56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35BDFF5-806B-D50B-7256-476EBCAD1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5233"/>
            <a:ext cx="12192000" cy="41027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B62738-41EE-1CF4-99D9-0906D1AA4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6" y="0"/>
            <a:ext cx="12202026" cy="3314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0BBB16-45CE-99BA-7995-A7D89E1514EC}"/>
              </a:ext>
            </a:extLst>
          </p:cNvPr>
          <p:cNvSpPr txBox="1"/>
          <p:nvPr/>
        </p:nvSpPr>
        <p:spPr>
          <a:xfrm>
            <a:off x="-10026" y="276727"/>
            <a:ext cx="154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3k Subset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BDD610-B7F0-7F45-095C-D643B8B126D9}"/>
              </a:ext>
            </a:extLst>
          </p:cNvPr>
          <p:cNvSpPr txBox="1"/>
          <p:nvPr/>
        </p:nvSpPr>
        <p:spPr>
          <a:xfrm>
            <a:off x="-88232" y="3130034"/>
            <a:ext cx="154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Whole Glia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1935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5A7EDB-6E91-E8C9-FC56-2BE95EA03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GO enrichment (BP &amp; MF)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7FD0835-0176-6A3D-B44B-E4A6C9C7A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 err="1"/>
              <a:t>clusterProfiler</a:t>
            </a:r>
            <a:r>
              <a:rPr lang="en-US" altLang="zh-CN" sz="1800" dirty="0"/>
              <a:t> package (Yu, 2024 </a:t>
            </a:r>
            <a:r>
              <a:rPr lang="en-US" altLang="zh-CN" sz="1800" dirty="0">
                <a:hlinkClick r:id="rId2"/>
              </a:rPr>
              <a:t>https://doi.org/10.1016/j.xinn.2024.100722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Gene Ontology (Thomas et al, 2022 </a:t>
            </a:r>
            <a:r>
              <a:rPr lang="en-US" altLang="zh-CN" sz="1800" dirty="0">
                <a:hlinkClick r:id="rId3"/>
              </a:rPr>
              <a:t>https://doi.org/10.1002%2Fpro.4218</a:t>
            </a:r>
            <a:r>
              <a:rPr lang="en-US" altLang="zh-CN" sz="1800" dirty="0"/>
              <a:t>) 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17322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C6AB280-30B6-55AC-FDB1-5F898B21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Global age difference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56F3C2B-44AE-57F6-6DC3-25AB61D7E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3k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E4B281D-2002-FC51-FDCC-15A4B78BA5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+mn-ea"/>
              </a:rPr>
              <a:t>Mitochondrial respiration 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↑ adult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F29442D-1641-0DB6-7879-8F241A009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Whole glia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4E894FAB-BE9E-FE41-3634-F60D193587E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GTPases mediated transduction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↑ adult</a:t>
            </a:r>
            <a:endParaRPr lang="en-US" altLang="zh-CN" sz="2000" dirty="0"/>
          </a:p>
          <a:p>
            <a:r>
              <a:rPr lang="en-US" altLang="zh-CN" sz="2000" dirty="0" err="1"/>
              <a:t>Gliogenesis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↑ adult</a:t>
            </a:r>
            <a:endParaRPr lang="en-US" altLang="zh-CN" sz="2000" dirty="0"/>
          </a:p>
          <a:p>
            <a:r>
              <a:rPr lang="en-US" altLang="zh-CN" sz="2000" dirty="0"/>
              <a:t>Synapse regulation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↑ adult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2035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0203-6B95-EEC2-EAE3-5FAF46D8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5EFE5900-C802-B9E0-2307-20E0A645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Global sex difference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C9C323F-0CB1-8AD7-34A1-112713805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3k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0356F22-6ED6-791D-ECDB-42B491FEE2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Sex chromosome dosage compensation↑ Female</a:t>
            </a:r>
          </a:p>
          <a:p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Histone modification ↑ Female</a:t>
            </a:r>
          </a:p>
          <a:p>
            <a:endParaRPr lang="zh-CN" altLang="en-US" sz="2000" dirty="0">
              <a:latin typeface="+mn-ea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6D1F936-C8A4-93E7-65B0-21E4608A7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Whole glia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6896284A-EE29-2FD5-6AEA-2D0A17E661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Immune response &amp; activation 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↑ Female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14144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E1A2-2BD6-9DCA-75F5-1B42C4F7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279F109-05B5-B7A3-FD44-C14C244F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Global </a:t>
            </a:r>
            <a:r>
              <a:rPr lang="en-US" altLang="zh-CN" dirty="0" err="1"/>
              <a:t>roi</a:t>
            </a:r>
            <a:r>
              <a:rPr lang="en-US" altLang="zh-CN" dirty="0"/>
              <a:t> difference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BA9C77B-6304-AA98-41D6-D037C0B70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3k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AB6058D-6CF7-AAEB-1392-D0D810AC5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Whole glia</a:t>
            </a:r>
            <a:endParaRPr lang="zh-CN" altLang="en-US" dirty="0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2CDF7B1B-BC14-350B-BAD0-B5920D8FCE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4" y="2505074"/>
            <a:ext cx="5441156" cy="4352925"/>
          </a:xfrm>
          <a:prstGeom prst="rect">
            <a:avLst/>
          </a:prstGeom>
        </p:spPr>
      </p:pic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C089B56C-D03E-C663-F03A-BCD57293EA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926" y="2505075"/>
            <a:ext cx="5450680" cy="43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1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376</Words>
  <Application>Microsoft Office PowerPoint</Application>
  <PresentationFormat>宽屏</PresentationFormat>
  <Paragraphs>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GM47283 Synteny</vt:lpstr>
      <vt:lpstr>PowerPoint 演示文稿</vt:lpstr>
      <vt:lpstr>PowerPoint 演示文稿</vt:lpstr>
      <vt:lpstr>Pseudoautosomal region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GM47283 Summery</vt:lpstr>
      <vt:lpstr>DEG</vt:lpstr>
      <vt:lpstr>PowerPoint 演示文稿</vt:lpstr>
      <vt:lpstr>PowerPoint 演示文稿</vt:lpstr>
      <vt:lpstr>PowerPoint 演示文稿</vt:lpstr>
      <vt:lpstr>GO enrichment (BP &amp; MF)</vt:lpstr>
      <vt:lpstr>Global age difference</vt:lpstr>
      <vt:lpstr>Global sex difference</vt:lpstr>
      <vt:lpstr>Global roi difference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家麒 马</dc:creator>
  <cp:lastModifiedBy>家麒 马</cp:lastModifiedBy>
  <cp:revision>4</cp:revision>
  <dcterms:created xsi:type="dcterms:W3CDTF">2026-03-02T13:10:44Z</dcterms:created>
  <dcterms:modified xsi:type="dcterms:W3CDTF">2026-03-25T15:44:44Z</dcterms:modified>
</cp:coreProperties>
</file>